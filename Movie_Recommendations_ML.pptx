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0A0C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A0A0C0"/>
                </a:solidFill>
                <a:latin typeface="Arial"/>
              </a:rPr>
              <a:t>NDCG@10 (higher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 Score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D7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Random</c:v>
                  </c:pt>
                  <c:pt idx="1">
                    <c:v>Popularity</c:v>
                  </c:pt>
                  <c:pt idx="2">
                    <c:v>User-CF</c:v>
                  </c:pt>
                  <c:pt idx="3">
                    <c:v>Item-CF</c:v>
                  </c:pt>
                  <c:pt idx="4">
                    <c:v>Matrix Fact.</c:v>
                  </c:pt>
                  <c:pt idx="5">
                    <c:v>NCF</c:v>
                  </c:pt>
                  <c:pt idx="6">
                    <c:v>BERT4Rec</c:v>
                  </c:pt>
                  <c:pt idx="7">
                    <c:v>Hybrid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0.12</c:v>
                </c:pt>
                <c:pt idx="1">
                  <c:v>0.28</c:v>
                </c:pt>
                <c:pt idx="2">
                  <c:v>0.42</c:v>
                </c:pt>
                <c:pt idx="3">
                  <c:v>0.46</c:v>
                </c:pt>
                <c:pt idx="4">
                  <c:v>0.55</c:v>
                </c:pt>
                <c:pt idx="5">
                  <c:v>0.64</c:v>
                </c:pt>
                <c:pt idx="6">
                  <c:v>0.71</c:v>
                </c:pt>
                <c:pt idx="7">
                  <c:v>0.78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0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A2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0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457200" cy="14630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4" name="Shape 2"/>
          <p:cNvSpPr/>
          <p:nvPr/>
        </p:nvSpPr>
        <p:spPr>
          <a:xfrm>
            <a:off x="7909560" y="0"/>
            <a:ext cx="457200" cy="146304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0"/>
            <a:ext cx="457200" cy="14630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737360"/>
            <a:ext cx="457200" cy="146304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7" name="Shape 5"/>
          <p:cNvSpPr/>
          <p:nvPr/>
        </p:nvSpPr>
        <p:spPr>
          <a:xfrm>
            <a:off x="7909560" y="1737360"/>
            <a:ext cx="457200" cy="14630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1737360"/>
            <a:ext cx="457200" cy="146304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3474720"/>
            <a:ext cx="457200" cy="14630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0" name="Shape 8"/>
          <p:cNvSpPr/>
          <p:nvPr/>
        </p:nvSpPr>
        <p:spPr>
          <a:xfrm>
            <a:off x="7909560" y="3474720"/>
            <a:ext cx="457200" cy="146304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3474720"/>
            <a:ext cx="457200" cy="1463040"/>
          </a:xfrm>
          <a:prstGeom prst="rect">
            <a:avLst/>
          </a:prstGeom>
          <a:solidFill>
            <a:srgbClr val="1A1A3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389120"/>
            <a:ext cx="274320" cy="27432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4389120"/>
            <a:ext cx="274320" cy="27432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4389120"/>
            <a:ext cx="274320" cy="2743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4389120"/>
            <a:ext cx="274320" cy="27432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438912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0040" y="6400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 RECOMMENDATIONS</a:t>
            </a:r>
            <a:endParaRPr lang="en-US" sz="3600" dirty="0"/>
          </a:p>
        </p:txBody>
      </p:sp>
      <p:sp>
        <p:nvSpPr>
          <p:cNvPr id="18" name="Text 11"/>
          <p:cNvSpPr/>
          <p:nvPr/>
        </p:nvSpPr>
        <p:spPr>
          <a:xfrm>
            <a:off x="320040" y="1508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4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19" name="Shape 12"/>
          <p:cNvSpPr/>
          <p:nvPr/>
        </p:nvSpPr>
        <p:spPr>
          <a:xfrm>
            <a:off x="320040" y="2240280"/>
            <a:ext cx="59436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0" name="Text 13"/>
          <p:cNvSpPr/>
          <p:nvPr/>
        </p:nvSpPr>
        <p:spPr>
          <a:xfrm>
            <a:off x="32004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• Content-Based • Deep Learning • Hybrid Models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926080"/>
            <a:ext cx="548640" cy="5486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584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That Learn Your Taste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3200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&amp; Practical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RECOMMENDATION CHALLENGE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47472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64008"/>
          </a:xfrm>
          <a:prstGeom prst="rect">
            <a:avLst/>
          </a:prstGeom>
          <a:solidFill>
            <a:srgbClr val="E509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05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Overload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22860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host 50,000+ titles. Users spend 18 min on average just deciding what to watch.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743200" cy="347472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822960"/>
            <a:ext cx="2743200" cy="6400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0058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Gap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37560" y="22860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watched content on Netflix comes from recommendations — search alone fails to surface relevant titles.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822960"/>
            <a:ext cx="2743200" cy="347472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822960"/>
            <a:ext cx="2743200" cy="6400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058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Diverse Tastes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22860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viewer is unique. A one-size-fits-all top-10 list ignores personal preferences and viewing history.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4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ML-powered recommendation systems are the solution.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COLLABORATIVE FILTERING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(CF) recommends movies based on the behavior of similar users. There are two main variants:
</a:t>
            </a:r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CF: </a:t>
            </a:r>
            <a:pPr indent="0" marL="0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users with similar tastes and recommend what they liked.
</a:t>
            </a:r>
            <a:pPr indent="0" marL="0">
              <a:buNone/>
            </a:pPr>
            <a:r>
              <a:rPr lang="en-US" sz="1300" b="1" dirty="0">
                <a:solidFill>
                  <a:srgbClr val="F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CF: </a:t>
            </a:r>
            <a:pPr indent="0" marL="0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movies similar to ones the user already rated highly.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40680" y="777240"/>
            <a:ext cx="777240" cy="4754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7" name="Text 5"/>
          <p:cNvSpPr/>
          <p:nvPr/>
        </p:nvSpPr>
        <p:spPr>
          <a:xfrm>
            <a:off x="5458968" y="850392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777240"/>
            <a:ext cx="777240" cy="4754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9" name="Text 7"/>
          <p:cNvSpPr/>
          <p:nvPr/>
        </p:nvSpPr>
        <p:spPr>
          <a:xfrm>
            <a:off x="6236208" y="850392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95160" y="777240"/>
            <a:ext cx="777240" cy="4754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1" name="Text 9"/>
          <p:cNvSpPr/>
          <p:nvPr/>
        </p:nvSpPr>
        <p:spPr>
          <a:xfrm>
            <a:off x="7013448" y="850392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0" y="777240"/>
            <a:ext cx="777240" cy="4754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3" name="Text 11"/>
          <p:cNvSpPr/>
          <p:nvPr/>
        </p:nvSpPr>
        <p:spPr>
          <a:xfrm>
            <a:off x="7790688" y="850392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52728"/>
            <a:ext cx="777240" cy="4754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5" name="Text 13"/>
          <p:cNvSpPr/>
          <p:nvPr/>
        </p:nvSpPr>
        <p:spPr>
          <a:xfrm>
            <a:off x="4700016" y="1344168"/>
            <a:ext cx="704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1252728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3258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252728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3258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95160" y="1252728"/>
            <a:ext cx="777240" cy="47548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3258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70"/>
                </a:solidFill>
              </a:rPr>
              <a:t>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1252728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13258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728216"/>
            <a:ext cx="777240" cy="4754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5" name="Text 23"/>
          <p:cNvSpPr/>
          <p:nvPr/>
        </p:nvSpPr>
        <p:spPr>
          <a:xfrm>
            <a:off x="4700016" y="1819656"/>
            <a:ext cx="704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1728216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18013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1728216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8013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95160" y="1728216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18013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0" y="1728216"/>
            <a:ext cx="777240" cy="47548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8013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70"/>
                </a:solidFill>
              </a:rPr>
              <a:t>—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2203704"/>
            <a:ext cx="777240" cy="4754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5" name="Text 33"/>
          <p:cNvSpPr/>
          <p:nvPr/>
        </p:nvSpPr>
        <p:spPr>
          <a:xfrm>
            <a:off x="4700016" y="2295144"/>
            <a:ext cx="704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40680" y="2203704"/>
            <a:ext cx="777240" cy="47548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7" name="Text 35"/>
          <p:cNvSpPr/>
          <p:nvPr/>
        </p:nvSpPr>
        <p:spPr>
          <a:xfrm>
            <a:off x="5440680" y="22768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70"/>
                </a:solidFill>
              </a:rPr>
              <a:t>—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2203704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22768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95160" y="2203704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22768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772400" y="2203704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22768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3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663440" y="2679192"/>
            <a:ext cx="777240" cy="4754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5" name="Text 43"/>
          <p:cNvSpPr/>
          <p:nvPr/>
        </p:nvSpPr>
        <p:spPr>
          <a:xfrm>
            <a:off x="4700016" y="2770632"/>
            <a:ext cx="704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You?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0680" y="2679192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47" name="Text 45"/>
          <p:cNvSpPr/>
          <p:nvPr/>
        </p:nvSpPr>
        <p:spPr>
          <a:xfrm>
            <a:off x="5440680" y="2752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17920" y="2679192"/>
            <a:ext cx="777240" cy="47548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2752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—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995160" y="2679192"/>
            <a:ext cx="777240" cy="475488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51" name="Text 49"/>
          <p:cNvSpPr/>
          <p:nvPr/>
        </p:nvSpPr>
        <p:spPr>
          <a:xfrm>
            <a:off x="6995160" y="2752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00"/>
                </a:solidFill>
              </a:rPr>
              <a:t>3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772400" y="2679192"/>
            <a:ext cx="777240" cy="47548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0" y="2752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70"/>
                </a:solidFill>
              </a:rPr>
              <a:t>?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74320" y="3977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Matrix Factorization (SVD) decomposes this sparse matrix into latent factors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No content metadata needed  •  Discovers unexpected tastes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Cold-start problem for new users  •  Requires large datasets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CONTENT-BASED FILTERING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movies similar to what a user has liked before, based on movie attributes.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8229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109728" cy="8229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99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Sci-Fi, Drama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114800" cy="8229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286000"/>
            <a:ext cx="109728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Nolan, Spielberg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4114800" cy="8229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3246120"/>
            <a:ext cx="109728" cy="8229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19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actors, ensemble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325880"/>
            <a:ext cx="4114800" cy="8229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325880"/>
            <a:ext cx="109728" cy="8229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99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Plot Keywords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Time-travel, Heist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286000"/>
            <a:ext cx="4114800" cy="8229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2286000"/>
            <a:ext cx="10972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(&lt;90m), Epic (&gt;150m)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246120"/>
            <a:ext cx="4114800" cy="8229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6" name="Shape 24"/>
          <p:cNvSpPr/>
          <p:nvPr/>
        </p:nvSpPr>
        <p:spPr>
          <a:xfrm>
            <a:off x="4709160" y="3246120"/>
            <a:ext cx="10972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319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Release Year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Classic, Modern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1A0A2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is computed using TF-IDF vectors + Cosine Similarity  |  cos(θ) = (A·B) / (|A||B|)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Pros: Works for new users  •  Transparent &amp; explainable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Cons: Limited to known features  •  No cross-user discovery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 APPROACHES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26080" y="978408"/>
            <a:ext cx="128016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978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4356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Collaborative Filtering (NCF)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874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dot product in MF with deep neural networks. Learns complex non-linear user-item interactions.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777240"/>
            <a:ext cx="4114800" cy="19202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2" name="Shape 9"/>
          <p:cNvSpPr/>
          <p:nvPr/>
        </p:nvSpPr>
        <p:spPr>
          <a:xfrm>
            <a:off x="4709160" y="777240"/>
            <a:ext cx="4114800" cy="54864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6012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60920" y="978408"/>
            <a:ext cx="128016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1"/>
          <p:cNvSpPr/>
          <p:nvPr/>
        </p:nvSpPr>
        <p:spPr>
          <a:xfrm>
            <a:off x="7360920" y="978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92040" y="14356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Autoencoders (AE)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92040" y="1874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sparse rating matrices into a dense latent space and reconstruct predicted ratings for unseen movies.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2880360"/>
            <a:ext cx="4114800" cy="19202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9" name="Shape 15"/>
          <p:cNvSpPr/>
          <p:nvPr/>
        </p:nvSpPr>
        <p:spPr>
          <a:xfrm>
            <a:off x="274320" y="2880360"/>
            <a:ext cx="4114800" cy="54864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411480" cy="4114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926080" y="3081528"/>
            <a:ext cx="1280160" cy="27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2" name="Text 17"/>
          <p:cNvSpPr/>
          <p:nvPr/>
        </p:nvSpPr>
        <p:spPr>
          <a:xfrm>
            <a:off x="2926080" y="3081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35387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Recurrent Networks (RNN/LSTM)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3977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sequential viewing sessions — capture how tastes evolve over time and predict next watch behavior.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09160" y="2880360"/>
            <a:ext cx="4114800" cy="19202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6" name="Shape 21"/>
          <p:cNvSpPr/>
          <p:nvPr/>
        </p:nvSpPr>
        <p:spPr>
          <a:xfrm>
            <a:off x="4709160" y="2880360"/>
            <a:ext cx="4114800" cy="54864"/>
          </a:xfrm>
          <a:prstGeom prst="rect">
            <a:avLst/>
          </a:prstGeom>
          <a:solidFill>
            <a:srgbClr val="FF4F5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63240"/>
            <a:ext cx="411480" cy="4114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360920" y="3081528"/>
            <a:ext cx="1280160" cy="274320"/>
          </a:xfrm>
          <a:prstGeom prst="rect">
            <a:avLst/>
          </a:prstGeom>
          <a:solidFill>
            <a:srgbClr val="FF4F5A"/>
          </a:solidFill>
          <a:ln/>
        </p:spPr>
      </p:sp>
      <p:sp>
        <p:nvSpPr>
          <p:cNvPr id="29" name="Text 23"/>
          <p:cNvSpPr/>
          <p:nvPr/>
        </p:nvSpPr>
        <p:spPr>
          <a:xfrm>
            <a:off x="7360920" y="3081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(2023+)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892040" y="35387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Transformer-Based (BERT4Rec)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892040" y="3977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self-attention over viewing history. BERT4Rec achieves top results on benchmark recommendation datasets.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enables modeling of complex, non-linear patterns beyond traditional matrix factorization.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 RECOMMENDATION SYSTEMS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approaches delivers the best real-world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" y="1280160"/>
            <a:ext cx="1508760" cy="137160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1280160"/>
            <a:ext cx="1508760" cy="54864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45920" y="1920240"/>
            <a:ext cx="256032" cy="54864"/>
          </a:xfrm>
          <a:prstGeom prst="rect">
            <a:avLst/>
          </a:prstGeom>
          <a:solidFill>
            <a:srgbClr val="A0A0C0"/>
          </a:solidFill>
          <a:ln/>
        </p:spPr>
      </p:sp>
      <p:sp>
        <p:nvSpPr>
          <p:cNvPr id="10" name="Text 7"/>
          <p:cNvSpPr/>
          <p:nvPr/>
        </p:nvSpPr>
        <p:spPr>
          <a:xfrm>
            <a:off x="1856232" y="1828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01952" y="1280160"/>
            <a:ext cx="1508760" cy="137160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2" name="Shape 9"/>
          <p:cNvSpPr/>
          <p:nvPr/>
        </p:nvSpPr>
        <p:spPr>
          <a:xfrm>
            <a:off x="1901952" y="1280160"/>
            <a:ext cx="150876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32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47672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10712" y="1920240"/>
            <a:ext cx="256032" cy="54864"/>
          </a:xfrm>
          <a:prstGeom prst="rect">
            <a:avLst/>
          </a:prstGeom>
          <a:solidFill>
            <a:srgbClr val="A0A0C0"/>
          </a:solidFill>
          <a:ln/>
        </p:spPr>
      </p:sp>
      <p:sp>
        <p:nvSpPr>
          <p:cNvPr id="16" name="Text 12"/>
          <p:cNvSpPr/>
          <p:nvPr/>
        </p:nvSpPr>
        <p:spPr>
          <a:xfrm>
            <a:off x="3621024" y="1828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66744" y="1280160"/>
            <a:ext cx="1508760" cy="137160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8" name="Shape 14"/>
          <p:cNvSpPr/>
          <p:nvPr/>
        </p:nvSpPr>
        <p:spPr>
          <a:xfrm>
            <a:off x="3666744" y="1280160"/>
            <a:ext cx="1508760" cy="54864"/>
          </a:xfrm>
          <a:prstGeom prst="rect">
            <a:avLst/>
          </a:prstGeom>
          <a:solidFill>
            <a:srgbClr val="E5091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524" y="14173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12464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175504" y="1920240"/>
            <a:ext cx="256032" cy="54864"/>
          </a:xfrm>
          <a:prstGeom prst="rect">
            <a:avLst/>
          </a:prstGeom>
          <a:solidFill>
            <a:srgbClr val="A0A0C0"/>
          </a:solidFill>
          <a:ln/>
        </p:spPr>
      </p:sp>
      <p:sp>
        <p:nvSpPr>
          <p:cNvPr id="22" name="Text 17"/>
          <p:cNvSpPr/>
          <p:nvPr/>
        </p:nvSpPr>
        <p:spPr>
          <a:xfrm>
            <a:off x="5385816" y="1828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31536" y="1280160"/>
            <a:ext cx="1508760" cy="137160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4" name="Shape 19"/>
          <p:cNvSpPr/>
          <p:nvPr/>
        </p:nvSpPr>
        <p:spPr>
          <a:xfrm>
            <a:off x="5431536" y="1280160"/>
            <a:ext cx="1508760" cy="54864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14173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77256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940296" y="1920240"/>
            <a:ext cx="256032" cy="54864"/>
          </a:xfrm>
          <a:prstGeom prst="rect">
            <a:avLst/>
          </a:prstGeom>
          <a:solidFill>
            <a:srgbClr val="A0A0C0"/>
          </a:solidFill>
          <a:ln/>
        </p:spPr>
      </p:sp>
      <p:sp>
        <p:nvSpPr>
          <p:cNvPr id="28" name="Text 22"/>
          <p:cNvSpPr/>
          <p:nvPr/>
        </p:nvSpPr>
        <p:spPr>
          <a:xfrm>
            <a:off x="7150608" y="18288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196328" y="1280160"/>
            <a:ext cx="1508760" cy="137160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0" name="Shape 24"/>
          <p:cNvSpPr/>
          <p:nvPr/>
        </p:nvSpPr>
        <p:spPr>
          <a:xfrm>
            <a:off x="7196328" y="1280160"/>
            <a:ext cx="15087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108" y="141732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42048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Ranker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274320" y="2834640"/>
            <a:ext cx="8595360" cy="5486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4" name="Text 27"/>
          <p:cNvSpPr/>
          <p:nvPr/>
        </p:nvSpPr>
        <p:spPr>
          <a:xfrm>
            <a:off x="45720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Weighted Hybrid: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2286000" y="2926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α·CF + β·CBF + γ·DL  —  learned weights via cross-validation.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274320" y="3493008"/>
            <a:ext cx="8595360" cy="5486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7" name="Text 30"/>
          <p:cNvSpPr/>
          <p:nvPr/>
        </p:nvSpPr>
        <p:spPr>
          <a:xfrm>
            <a:off x="457200" y="3584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Switching Hybrid: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2286000" y="35844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CF for users with rich history; fall back to CBF for new users (cold-start fix).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274320" y="4151376"/>
            <a:ext cx="8595360" cy="5486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40" name="Text 33"/>
          <p:cNvSpPr/>
          <p:nvPr/>
        </p:nvSpPr>
        <p:spPr>
          <a:xfrm>
            <a:off x="457200" y="42428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Cascade Hybrid: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2286000" y="42428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shortlists candidates, then a DL model re-ranks the top-N for personalization.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COMPARISON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005840"/>
            <a:ext cx="2743200" cy="10058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6" name="Shape 3"/>
          <p:cNvSpPr/>
          <p:nvPr/>
        </p:nvSpPr>
        <p:spPr>
          <a:xfrm>
            <a:off x="6080760" y="1005840"/>
            <a:ext cx="9144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389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0.78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080760" y="2240280"/>
            <a:ext cx="2743200" cy="10058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0" name="Shape 7"/>
          <p:cNvSpPr/>
          <p:nvPr/>
        </p:nvSpPr>
        <p:spPr>
          <a:xfrm>
            <a:off x="6080760" y="2240280"/>
            <a:ext cx="91440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advantage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6243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+42%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CF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080760" y="3474720"/>
            <a:ext cx="2743200" cy="10058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4" name="Shape 11"/>
          <p:cNvSpPr/>
          <p:nvPr/>
        </p:nvSpPr>
        <p:spPr>
          <a:xfrm>
            <a:off x="6080760" y="3474720"/>
            <a:ext cx="91440" cy="10058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MovieLens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NDCG@10 on MovieLens 20M benchmark  |  Values are illustrative of published literature trends.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IMPLEMENTATIONS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261872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49808"/>
            <a:ext cx="109728" cy="1261872"/>
          </a:xfrm>
          <a:prstGeom prst="rect">
            <a:avLst/>
          </a:prstGeom>
          <a:solidFill>
            <a:srgbClr val="E509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55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841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Multi-armed Bandit + NCF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" y="15270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2,000+ recommendation models. Personalizes thumbnails, search, and ranking.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161288"/>
            <a:ext cx="2743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1612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$1B/year saved in churn reduction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167128"/>
            <a:ext cx="8595360" cy="1261872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3" name="Shape 10"/>
          <p:cNvSpPr/>
          <p:nvPr/>
        </p:nvSpPr>
        <p:spPr>
          <a:xfrm>
            <a:off x="274320" y="2167128"/>
            <a:ext cx="109728" cy="1261872"/>
          </a:xfrm>
          <a:prstGeom prst="rect">
            <a:avLst/>
          </a:prstGeom>
          <a:solidFill>
            <a:srgbClr val="00A8E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3288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2258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 Prime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43000" y="2642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Item-to-Item CF + Deep DNN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43000" y="2944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Cross-sells across video, music, and Prime catalog using unified embedding space.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0" y="2578608"/>
            <a:ext cx="2743200" cy="457200"/>
          </a:xfrm>
          <a:prstGeom prst="rect">
            <a:avLst/>
          </a:prstGeom>
          <a:solidFill>
            <a:srgbClr val="00A8E0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 of revenue from recommendations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74320" y="3584448"/>
            <a:ext cx="8595360" cy="1261872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1" name="Shape 17"/>
          <p:cNvSpPr/>
          <p:nvPr/>
        </p:nvSpPr>
        <p:spPr>
          <a:xfrm>
            <a:off x="274320" y="3584448"/>
            <a:ext cx="109728" cy="1261872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50208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43000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143000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Two-Tower DNN + Transformer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143000" y="4361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 + ranking pipeline. Processes 80 billion parameters.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943600" y="3995928"/>
            <a:ext cx="2743200" cy="4572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7" name="Text 22"/>
          <p:cNvSpPr/>
          <p:nvPr/>
        </p:nvSpPr>
        <p:spPr>
          <a:xfrm>
            <a:off x="5943600" y="3995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 of watch time driven by algo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systems process billions of interactions daily using distributed ML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2344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109728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Precision@K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in top-K / 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recommended movies are actually liked?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114800" cy="12344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194560"/>
            <a:ext cx="109728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Recall@K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in top-K / All Relevant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liked movies are surfaced?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12344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611880"/>
            <a:ext cx="109728" cy="1234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NDCG@K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Discounted Cumulative Gain (rank-weighted)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61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highly relevant movies ranked higher.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777240"/>
            <a:ext cx="4114800" cy="12344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777240"/>
            <a:ext cx="109728" cy="12344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216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Average Precision across queries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5270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precision across all users.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4114800" cy="12344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2194560"/>
            <a:ext cx="109728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items recommended / Total items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944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popularity bias — diversity metric.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14800" cy="123444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3611880"/>
            <a:ext cx="109728" cy="1234440"/>
          </a:xfrm>
          <a:prstGeom prst="rect">
            <a:avLst/>
          </a:prstGeom>
          <a:solidFill>
            <a:srgbClr val="FF4F5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A/B Testing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CTR, Watch Time, Retention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361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online evaluation — the ultimate judge.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 offline metrics (NDCG, Precision) and online metrics (CTR, retention)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74320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7432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74320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4320"/>
            <a:ext cx="457200" cy="4572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74320"/>
            <a:ext cx="457200" cy="4572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10" name="Shape 3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1" name="Shape 4"/>
          <p:cNvSpPr/>
          <p:nvPr/>
        </p:nvSpPr>
        <p:spPr>
          <a:xfrm>
            <a:off x="457200" y="1664208"/>
            <a:ext cx="685800" cy="5943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5"/>
          <p:cNvSpPr/>
          <p:nvPr/>
        </p:nvSpPr>
        <p:spPr>
          <a:xfrm>
            <a:off x="457200" y="166420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1280160" y="177393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leverages crowd wisdom — ideal for dense, established platforms.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5" name="Shape 8"/>
          <p:cNvSpPr/>
          <p:nvPr/>
        </p:nvSpPr>
        <p:spPr>
          <a:xfrm>
            <a:off x="457200" y="2377440"/>
            <a:ext cx="6858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9"/>
          <p:cNvSpPr/>
          <p:nvPr/>
        </p:nvSpPr>
        <p:spPr>
          <a:xfrm>
            <a:off x="457200" y="2377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280160" y="248716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solves cold-start and is fully explainable to users.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57200" y="3090672"/>
            <a:ext cx="8229600" cy="5943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9" name="Shape 12"/>
          <p:cNvSpPr/>
          <p:nvPr/>
        </p:nvSpPr>
        <p:spPr>
          <a:xfrm>
            <a:off x="457200" y="3090672"/>
            <a:ext cx="685800" cy="5943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3"/>
          <p:cNvSpPr/>
          <p:nvPr/>
        </p:nvSpPr>
        <p:spPr>
          <a:xfrm>
            <a:off x="457200" y="309067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1280160" y="3200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(NCF, BERT4Rec) captures complex patterns for superior accuracy.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57200" y="3803904"/>
            <a:ext cx="8229600" cy="59436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3" name="Shape 16"/>
          <p:cNvSpPr/>
          <p:nvPr/>
        </p:nvSpPr>
        <p:spPr>
          <a:xfrm>
            <a:off x="457200" y="3803904"/>
            <a:ext cx="685800" cy="594360"/>
          </a:xfrm>
          <a:prstGeom prst="rect">
            <a:avLst/>
          </a:prstGeom>
          <a:solidFill>
            <a:srgbClr val="FF4F5A"/>
          </a:solidFill>
          <a:ln/>
        </p:spPr>
      </p:sp>
      <p:sp>
        <p:nvSpPr>
          <p:cNvPr id="24" name="Text 17"/>
          <p:cNvSpPr/>
          <p:nvPr/>
        </p:nvSpPr>
        <p:spPr>
          <a:xfrm>
            <a:off x="457200" y="380390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1280160" y="3913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Models combine strengths of all approaches — used by Netflix, YouTube, Amazon.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recommendation system is one that keeps viewers watching — and smiling.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Recommendations Using ML</dc:title>
  <dc:subject>PptxGenJS Presentation</dc:subject>
  <dc:creator>PptxGenJS</dc:creator>
  <cp:lastModifiedBy>PptxGenJS</cp:lastModifiedBy>
  <cp:revision>1</cp:revision>
  <dcterms:created xsi:type="dcterms:W3CDTF">2026-05-18T02:25:15Z</dcterms:created>
  <dcterms:modified xsi:type="dcterms:W3CDTF">2026-05-18T02:25:15Z</dcterms:modified>
</cp:coreProperties>
</file>